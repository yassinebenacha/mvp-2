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membres du jury. Je suis ravi de vous présenter aujourd'hui mon projet de fin d'études intitulé NoiseCleaner.</a:t>
            </a:r>
          </a:p>
          <a:p/>
          <a:p>
            <a:r>
              <a:t>Dans le domaine du traitement automatique des langues (NLP), la qualité des données est cruciale. Le bruit dégrade nos modèles. La motivation derrière NoiseCleaner est de proposer un système intelligent capable d'isoler automatiquement le contenu textuel noble.</a:t>
            </a:r>
          </a:p>
          <a:p/>
          <a:p>
            <a:r>
              <a:t>Transition : Analysons en détail la structure typique d'un document web.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texte purement éditorial est souvent minoritaire par rapport au bruit environnant. Nous classons ce bruit en quatre grandes catégories : navigation, recommandation, promotionnel et métadonnées. Un simple script de scraping mélange tout.</a:t>
            </a:r>
          </a:p>
          <a:p/>
          <a:p>
            <a:r>
              <a:t>Transition : C'est face à cette limite que s'inscrit l'objectif de NoiseCleaner.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est simple : prendre en entrée une page web brute, et restituer en sortie un texte éditorial parfaitement propre. Nous modélisons cette tâche comme un problème de classification binaire supervisée au niveau du segment.</a:t>
            </a:r>
          </a:p>
          <a:p/>
          <a:p>
            <a:r>
              <a:t>Transition : Pour réaliser cette tâche, nous avons conçu une architecture modulaire.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pipeline architectural : segmentation structurelle, filtrage rapide, transformation en vecteurs sémantiques avec MiniLM, classification (SVM/LR), et enfin reconstruction du document final.</a:t>
            </a:r>
          </a:p>
          <a:p/>
          <a:p>
            <a:r>
              <a:t>Transition : Zoomons d'abord sur la première étape : la 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choix de la granularité est critique. Nous avons opté pour le niveau du segment textuel (paragraphes, titres). Chaque segment est annoté en conservant son index d'origine pour reconstruire l'article à la fin.</a:t>
            </a:r>
          </a:p>
          <a:p/>
          <a:p>
            <a:r>
              <a:t>Transition : Pourquoi un modèle supervisé plutôt que des règles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approches par règles CSS sont fragiles : si le site change de design, le pipeline est rompu. L'apprentissage supervisé permet au modèle d'apprendre des représentations abstraites. Il apprend le 'fond' et non la 'forme'.</a:t>
            </a:r>
          </a:p>
          <a:p/>
          <a:p>
            <a:r>
              <a:t>Transition : Pour cela, nous utilisons MiniLM.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sélectionné MiniLM. Il capture le contexte, gère le multilinguisme, génère des vecteurs de 384D, et limite le surapprentissage tout en restant extrêmement rapide sur CPU.</a:t>
            </a:r>
          </a:p>
          <a:p/>
          <a:p>
            <a:r>
              <a:t>Transition : Sur ces vecteurs, appliquons nos classifieurs.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baseline est la Régression Logistique. Elle offre un atout : elle donne une probabilité continue, permettant d'ajuster le seuil de confiance. Nous utilisons class_weight='balanced' pour contrer le fait qu'il y a 70% de bruit.</a:t>
            </a:r>
          </a:p>
          <a:p/>
          <a:p>
            <a:r>
              <a:t>Transition : Face à elle, le Support Vector Machine.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SVM Linéaire a un objectif purement géométrique : maximiser la marge de séparation. Il est très robuste face aux données aberrantes situées loin de la frontière.</a:t>
            </a:r>
          </a:p>
          <a:p/>
          <a:p>
            <a:r>
              <a:t>Transition : Comment avons-nous comparé ces modèles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appliquons le principe du 'toutes choses égales par ailleurs'. Même dataset, mêmes embeddings, même partitionnement. Seul l'algorithme change pour valider si la complexité mathématique du SVM apporte un gain.</a:t>
            </a:r>
          </a:p>
          <a:p/>
          <a:p>
            <a:r>
              <a:t>Transition : Détaillons le protocole expérimental.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crucial : le risque de fuite de données. Un titre d'article se retrouve souvent en lien dans le footer. Si on split aléatoirement, la même phrase est dans le train et le test. On utilise donc un split au niveau de l'article complet.</a:t>
            </a:r>
          </a:p>
          <a:p/>
          <a:p>
            <a:r>
              <a:t>Transition : Voici les résultats.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baseline est solide, mais le SVM la surpasse avec 91.97% de F1-score. Il n'enregistre que 10 erreurs sur 144 segments testés, resserrant les mailles du filet.</a:t>
            </a:r>
          </a:p>
          <a:p/>
          <a:p>
            <a:r>
              <a:t>Transition : Analysons ces erreurs résiduelles.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Faux Positifs sont souvent des liens recommandés écrits comme de vraies phrases, brouillant l'embedding. Les Faux Négatifs sont des titres très courts ressemblant à des rubriques de navigation.</a:t>
            </a:r>
          </a:p>
          <a:p/>
          <a:p>
            <a:r>
              <a:t>Transition : Comment le modèle s'intègre-t-il en production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retenu le SVM Linéaire pour la production. BeautifulSoup extrait, MiniLM encode à la volée, le SVM étiquette, et le reconstructeur réassemble. Ce choix garantit la meilleure performance sans surcoût computationnel.</a:t>
            </a:r>
          </a:p>
          <a:p/>
          <a:p>
            <a:r>
              <a:t>Transition : Dressons le bilan pour conclure.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NoiseCleaner atteint ses objectifs en s'affranchissant des règles HTML fragiles. Pour l'avenir, la priorité est d'agrandir le dataset et d'explorer une approche hybride mêlant sémantique et métriques structurelles.</a:t>
            </a:r>
          </a:p>
          <a:p/>
          <a:p>
            <a:r>
              <a:t>Je vous remercie pour votre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NOISECLEANER</a:t>
            </a:r>
          </a:p>
          <a:p>
            <a:r>
              <a:rPr>
                <a:solidFill>
                  <a:srgbClr val="FFC000"/>
                </a:solidFill>
                <a:latin typeface="Georgia"/>
              </a:rPr>
              <a:t>Classification Supervisée pour le Nettoyage NLP</a:t>
            </a:r>
          </a:p>
        </p:txBody>
      </p:sp>
      <p:sp>
        <p:nvSpPr>
          <p:cNvPr id="3" name="Content Placeholder 2"/>
          <p:cNvSpPr>
            <a:spLocks noGrp="1"/>
          </p:cNvSpPr>
          <p:nvPr>
            <p:ph idx="1"/>
          </p:nvPr>
        </p:nvSpPr>
        <p:spPr/>
        <p:txBody>
          <a:bodyPr/>
          <a:lstStyle/>
          <a:p>
            <a:r>
              <a:rPr>
                <a:latin typeface="Georgia"/>
              </a:rPr>
              <a:t>• Le défi de l'extraction de données Web</a:t>
            </a:r>
          </a:p>
          <a:p>
            <a:r>
              <a:rPr>
                <a:latin typeface="Georgia"/>
              </a:rPr>
              <a:t>  - Les pages web sont pour les humains, pas pour les machines.</a:t>
            </a:r>
          </a:p>
          <a:p>
            <a:r>
              <a:rPr>
                <a:latin typeface="Georgia"/>
              </a:rPr>
              <a:t>  - Présence massive de bruit structurel.</a:t>
            </a:r>
          </a:p>
          <a:p/>
          <a:p>
            <a:r>
              <a:rPr>
                <a:latin typeface="Georgia"/>
              </a:rPr>
              <a:t>• Impact sur les systèmes NLP</a:t>
            </a:r>
          </a:p>
          <a:p>
            <a:r>
              <a:rPr>
                <a:latin typeface="Georgia"/>
              </a:rPr>
              <a:t>  - Dégrade les performances (LLM, NER, RAG).</a:t>
            </a:r>
          </a:p>
          <a:p>
            <a:r>
              <a:rPr>
                <a:latin typeface="Georgia"/>
              </a:rPr>
              <a:t>  - Principe 'Garbage In, Garbage Out'.</a:t>
            </a:r>
          </a:p>
          <a:p/>
          <a:p>
            <a:r>
              <a:rPr>
                <a:latin typeface="Georgia"/>
              </a:rPr>
              <a:t>• Motivation du projet</a:t>
            </a:r>
          </a:p>
          <a:p>
            <a:r>
              <a:rPr>
                <a:latin typeface="Georgia"/>
              </a:rPr>
              <a:t>  - Créer un pipeline automatisé, robuste et multilingue.</a:t>
            </a:r>
          </a:p>
          <a:p>
            <a:r>
              <a:rPr>
                <a:latin typeface="Georgia"/>
              </a:rPr>
              <a:t>  - Séparer le contenu éditorial du bruit.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La Problématique du Bruit Web</a:t>
            </a:r>
          </a:p>
        </p:txBody>
      </p:sp>
      <p:sp>
        <p:nvSpPr>
          <p:cNvPr id="3" name="Content Placeholder 2"/>
          <p:cNvSpPr>
            <a:spLocks noGrp="1"/>
          </p:cNvSpPr>
          <p:nvPr>
            <p:ph idx="1"/>
          </p:nvPr>
        </p:nvSpPr>
        <p:spPr/>
        <p:txBody>
          <a:bodyPr/>
          <a:lstStyle/>
          <a:p>
            <a:r>
              <a:rPr>
                <a:latin typeface="Georgia"/>
              </a:rPr>
              <a:t>• Anatomie d'une page Web standard :</a:t>
            </a:r>
          </a:p>
          <a:p>
            <a:r>
              <a:rPr>
                <a:latin typeface="Georgia"/>
              </a:rPr>
              <a:t>  - Menus, Footer, Barre de recherche (Bruit)</a:t>
            </a:r>
          </a:p>
          <a:p>
            <a:r>
              <a:rPr>
                <a:latin typeface="Georgia"/>
              </a:rPr>
              <a:t>  - Articles recommandés (Bruit)</a:t>
            </a:r>
          </a:p>
          <a:p>
            <a:r>
              <a:rPr>
                <a:latin typeface="Georgia"/>
              </a:rPr>
              <a:t>  - Publicités / Bannières (Bruit)</a:t>
            </a:r>
          </a:p>
          <a:p>
            <a:r>
              <a:rPr>
                <a:latin typeface="Georgia"/>
              </a:rPr>
              <a:t>  - Mentions légales (Bruit)</a:t>
            </a:r>
          </a:p>
          <a:p>
            <a:r>
              <a:rPr>
                <a:latin typeface="Georgia"/>
              </a:rPr>
              <a:t>  - CONTENU ÉDITORIAL (Utile)</a:t>
            </a:r>
          </a:p>
          <a:p/>
          <a:p>
            <a:r>
              <a:rPr>
                <a:latin typeface="Georgia"/>
              </a:rPr>
              <a:t>• Catégories de bruit structurel :</a:t>
            </a:r>
          </a:p>
          <a:p>
            <a:r>
              <a:rPr>
                <a:latin typeface="Georgia"/>
              </a:rPr>
              <a:t>  - Navigation</a:t>
            </a:r>
          </a:p>
          <a:p>
            <a:r>
              <a:rPr>
                <a:latin typeface="Georgia"/>
              </a:rPr>
              <a:t>  - Recommandations</a:t>
            </a:r>
          </a:p>
          <a:p>
            <a:r>
              <a:rPr>
                <a:latin typeface="Georgia"/>
              </a:rPr>
              <a:t>  - Promotionnel</a:t>
            </a:r>
          </a:p>
          <a:p>
            <a:r>
              <a:rPr>
                <a:latin typeface="Georgia"/>
              </a:rPr>
              <a:t>  - Métadonnées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L'Objectif de NoiseCleaner</a:t>
            </a:r>
          </a:p>
        </p:txBody>
      </p:sp>
      <p:sp>
        <p:nvSpPr>
          <p:cNvPr id="3" name="Content Placeholder 2"/>
          <p:cNvSpPr>
            <a:spLocks noGrp="1"/>
          </p:cNvSpPr>
          <p:nvPr>
            <p:ph idx="1"/>
          </p:nvPr>
        </p:nvSpPr>
        <p:spPr/>
        <p:txBody>
          <a:bodyPr/>
          <a:lstStyle/>
          <a:p>
            <a:r>
              <a:rPr>
                <a:latin typeface="Georgia"/>
              </a:rPr>
              <a:t>• Définition de la tâche :</a:t>
            </a:r>
          </a:p>
          <a:p>
            <a:r>
              <a:rPr>
                <a:latin typeface="Georgia"/>
              </a:rPr>
              <a:t>  - Entrée (Input) : Séquence désordonnée de segments HTML bruts.</a:t>
            </a:r>
          </a:p>
          <a:p>
            <a:r>
              <a:rPr>
                <a:latin typeface="Georgia"/>
              </a:rPr>
              <a:t>  - Sortie (Output) : Texte éditorial extrait et propre.</a:t>
            </a:r>
          </a:p>
          <a:p/>
          <a:p>
            <a:r>
              <a:rPr>
                <a:latin typeface="Georgia"/>
              </a:rPr>
              <a:t>• Modélisation :</a:t>
            </a:r>
          </a:p>
          <a:p>
            <a:r>
              <a:rPr>
                <a:latin typeface="Georgia"/>
              </a:rPr>
              <a:t>  - Classification binaire supervisée au niveau du segment.</a:t>
            </a:r>
          </a:p>
          <a:p>
            <a:r>
              <a:rPr>
                <a:latin typeface="Georgia"/>
              </a:rPr>
              <a:t>  - Classe 1 : Contenu Éditorial</a:t>
            </a:r>
          </a:p>
          <a:p>
            <a:r>
              <a:rPr>
                <a:latin typeface="Georgia"/>
              </a:rPr>
              <a:t>  - Classe 0 : Bruit Structurel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Architecture Globale du Système</a:t>
            </a:r>
          </a:p>
        </p:txBody>
      </p:sp>
      <p:sp>
        <p:nvSpPr>
          <p:cNvPr id="3" name="Content Placeholder 2"/>
          <p:cNvSpPr>
            <a:spLocks noGrp="1"/>
          </p:cNvSpPr>
          <p:nvPr>
            <p:ph idx="1"/>
          </p:nvPr>
        </p:nvSpPr>
        <p:spPr/>
        <p:txBody>
          <a:bodyPr/>
          <a:lstStyle/>
          <a:p>
            <a:r>
              <a:rPr>
                <a:latin typeface="Georgia"/>
              </a:rPr>
              <a:t>1. Segmentation : Découpage de la page web.</a:t>
            </a:r>
          </a:p>
          <a:p>
            <a:r>
              <a:rPr>
                <a:latin typeface="Georgia"/>
              </a:rPr>
              <a:t>2. Filtrage Heuristique : Élimination immédiate des balises vides.</a:t>
            </a:r>
          </a:p>
          <a:p>
            <a:r>
              <a:rPr>
                <a:latin typeface="Georgia"/>
              </a:rPr>
              <a:t>3. Embedding MiniLM : Projection sémantique (vecteurs 384D).</a:t>
            </a:r>
          </a:p>
          <a:p>
            <a:r>
              <a:rPr>
                <a:latin typeface="Georgia"/>
              </a:rPr>
              <a:t>4. Classifieur (LR/SVM) : Frontière de décision binaire.</a:t>
            </a:r>
          </a:p>
          <a:p>
            <a:r>
              <a:rPr>
                <a:latin typeface="Georgia"/>
              </a:rPr>
              <a:t>5. Reconstruction : Ré-assemblage ordonné des segments valides.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Segmentation Structurelle et Granularité</a:t>
            </a:r>
          </a:p>
        </p:txBody>
      </p:sp>
      <p:sp>
        <p:nvSpPr>
          <p:cNvPr id="3" name="Content Placeholder 2"/>
          <p:cNvSpPr>
            <a:spLocks noGrp="1"/>
          </p:cNvSpPr>
          <p:nvPr>
            <p:ph idx="1"/>
          </p:nvPr>
        </p:nvSpPr>
        <p:spPr/>
        <p:txBody>
          <a:bodyPr/>
          <a:lstStyle/>
          <a:p>
            <a:r>
              <a:rPr>
                <a:latin typeface="Georgia"/>
              </a:rPr>
              <a:t>• Nécessité de découper la page :</a:t>
            </a:r>
          </a:p>
          <a:p>
            <a:r>
              <a:rPr>
                <a:latin typeface="Georgia"/>
              </a:rPr>
              <a:t>  - Traiter la page d'un bloc est impossible.</a:t>
            </a:r>
          </a:p>
          <a:p/>
          <a:p>
            <a:r>
              <a:rPr>
                <a:latin typeface="Georgia"/>
              </a:rPr>
              <a:t>• Choix du niveau segment :</a:t>
            </a:r>
          </a:p>
          <a:p>
            <a:r>
              <a:rPr>
                <a:latin typeface="Georgia"/>
              </a:rPr>
              <a:t>  - Trop fin (mot) : Perte de contexte.</a:t>
            </a:r>
          </a:p>
          <a:p>
            <a:r>
              <a:rPr>
                <a:latin typeface="Georgia"/>
              </a:rPr>
              <a:t>  - Trop grossier (page) : Mélange des classes.</a:t>
            </a:r>
          </a:p>
          <a:p>
            <a:r>
              <a:rPr>
                <a:latin typeface="Georgia"/>
              </a:rPr>
              <a:t>  - Idéal : Lignes, phrases longues, paragraphes (p, li, h1-h6).</a:t>
            </a:r>
          </a:p>
          <a:p/>
          <a:p>
            <a:r>
              <a:rPr>
                <a:latin typeface="Georgia"/>
              </a:rPr>
              <a:t>• Annotation :</a:t>
            </a:r>
          </a:p>
          <a:p>
            <a:r>
              <a:rPr>
                <a:latin typeface="Georgia"/>
              </a:rPr>
              <a:t>  - Préservation de l'index pour garantir l'ordre 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Pourquoi l'Apprentissage Supervisé ?</a:t>
            </a:r>
          </a:p>
        </p:txBody>
      </p:sp>
      <p:sp>
        <p:nvSpPr>
          <p:cNvPr id="3" name="Content Placeholder 2"/>
          <p:cNvSpPr>
            <a:spLocks noGrp="1"/>
          </p:cNvSpPr>
          <p:nvPr>
            <p:ph idx="1"/>
          </p:nvPr>
        </p:nvSpPr>
        <p:spPr/>
        <p:txBody>
          <a:bodyPr/>
          <a:lstStyle/>
          <a:p>
            <a:r>
              <a:rPr>
                <a:latin typeface="Georgia"/>
              </a:rPr>
              <a:t>• Limites des règles (Heuristiques, CSS) :</a:t>
            </a:r>
          </a:p>
          <a:p>
            <a:r>
              <a:rPr>
                <a:latin typeface="Georgia"/>
              </a:rPr>
              <a:t>  - Fragilité : un changement de design casse tout.</a:t>
            </a:r>
          </a:p>
          <a:p>
            <a:r>
              <a:rPr>
                <a:latin typeface="Georgia"/>
              </a:rPr>
              <a:t>  - Non-généralisable : impossible de couvrir tous les sites.</a:t>
            </a:r>
          </a:p>
          <a:p>
            <a:r>
              <a:rPr>
                <a:latin typeface="Georgia"/>
              </a:rPr>
              <a:t>  - Ambiguïté linguistique (multilinguisme).</a:t>
            </a:r>
          </a:p>
          <a:p/>
          <a:p>
            <a:r>
              <a:rPr>
                <a:latin typeface="Georgia"/>
              </a:rPr>
              <a:t>• Avantages du supervisé :</a:t>
            </a:r>
          </a:p>
          <a:p>
            <a:r>
              <a:rPr>
                <a:latin typeface="Georgia"/>
              </a:rPr>
              <a:t>  - Robustesse : le modèle apprend le sens, pas la forme.</a:t>
            </a:r>
          </a:p>
          <a:p>
            <a:r>
              <a:rPr>
                <a:latin typeface="Georgia"/>
              </a:rPr>
              <a:t>  - Généralisation sur des sites jamais vus.</a:t>
            </a:r>
          </a:p>
          <a:p>
            <a:r>
              <a:rPr>
                <a:latin typeface="Georgia"/>
              </a:rPr>
              <a:t>  - Exploitation d'une vérité terrain annotée manuellement.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Représentation Vectorielle : MiniLM</a:t>
            </a:r>
          </a:p>
        </p:txBody>
      </p:sp>
      <p:sp>
        <p:nvSpPr>
          <p:cNvPr id="3" name="Content Placeholder 2"/>
          <p:cNvSpPr>
            <a:spLocks noGrp="1"/>
          </p:cNvSpPr>
          <p:nvPr>
            <p:ph idx="1"/>
          </p:nvPr>
        </p:nvSpPr>
        <p:spPr/>
        <p:txBody>
          <a:bodyPr/>
          <a:lstStyle/>
          <a:p>
            <a:r>
              <a:rPr>
                <a:latin typeface="Georgia"/>
              </a:rPr>
              <a:t>• Modèle : paraphrase-multilingual-MiniLM-L12-v2</a:t>
            </a:r>
          </a:p>
          <a:p/>
          <a:p>
            <a:r>
              <a:rPr>
                <a:latin typeface="Georgia"/>
              </a:rPr>
              <a:t>• Caractéristiques clés :</a:t>
            </a:r>
          </a:p>
          <a:p>
            <a:r>
              <a:rPr>
                <a:latin typeface="Georgia"/>
              </a:rPr>
              <a:t>  - Embeddings denses de 384 dimensions.</a:t>
            </a:r>
          </a:p>
          <a:p>
            <a:r>
              <a:rPr>
                <a:latin typeface="Georgia"/>
              </a:rPr>
              <a:t>  - Multilingue natif (FR, AR, EN...).</a:t>
            </a:r>
          </a:p>
          <a:p>
            <a:r>
              <a:rPr>
                <a:latin typeface="Georgia"/>
              </a:rPr>
              <a:t>  - CPU-friendly, très rapide pour la production.</a:t>
            </a:r>
          </a:p>
          <a:p/>
          <a:p>
            <a:r>
              <a:rPr>
                <a:latin typeface="Georgia"/>
              </a:rPr>
              <a:t>• Comparaison :</a:t>
            </a:r>
          </a:p>
          <a:p>
            <a:r>
              <a:rPr>
                <a:latin typeface="Georgia"/>
              </a:rPr>
              <a:t>  - TF-IDF : Pas de contexte sémantique.</a:t>
            </a:r>
          </a:p>
          <a:p>
            <a:r>
              <a:rPr>
                <a:latin typeface="Georgia"/>
              </a:rPr>
              <a:t>  - BERT : Trop lourd (768D, exige GPU).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Classifieur Baseline : Régression Logistique</a:t>
            </a:r>
          </a:p>
        </p:txBody>
      </p:sp>
      <p:sp>
        <p:nvSpPr>
          <p:cNvPr id="3" name="Content Placeholder 2"/>
          <p:cNvSpPr>
            <a:spLocks noGrp="1"/>
          </p:cNvSpPr>
          <p:nvPr>
            <p:ph idx="1"/>
          </p:nvPr>
        </p:nvSpPr>
        <p:spPr/>
        <p:txBody>
          <a:bodyPr/>
          <a:lstStyle/>
          <a:p>
            <a:r>
              <a:rPr>
                <a:latin typeface="Georgia"/>
              </a:rPr>
              <a:t>• Principe :</a:t>
            </a:r>
          </a:p>
          <a:p>
            <a:r>
              <a:rPr>
                <a:latin typeface="Georgia"/>
              </a:rPr>
              <a:t>  - Modélisation probabiliste (Fonction Sigmoïde).</a:t>
            </a:r>
          </a:p>
          <a:p>
            <a:r>
              <a:rPr>
                <a:latin typeface="Georgia"/>
              </a:rPr>
              <a:t>  - P(y=1|x) = σ(wᵀx + b)</a:t>
            </a:r>
          </a:p>
          <a:p/>
          <a:p>
            <a:r>
              <a:rPr>
                <a:latin typeface="Georgia"/>
              </a:rPr>
              <a:t>• Atouts :</a:t>
            </a:r>
          </a:p>
          <a:p>
            <a:r>
              <a:rPr>
                <a:latin typeface="Georgia"/>
              </a:rPr>
              <a:t>  - Simplicité et rapidité extrême.</a:t>
            </a:r>
          </a:p>
          <a:p>
            <a:r>
              <a:rPr>
                <a:latin typeface="Georgia"/>
              </a:rPr>
              <a:t>  - Calibrage probabiliste (permet d'ajuster le seuil de décision).</a:t>
            </a:r>
          </a:p>
          <a:p/>
          <a:p>
            <a:r>
              <a:rPr>
                <a:latin typeface="Georgia"/>
              </a:rPr>
              <a:t>• Configuration :</a:t>
            </a:r>
          </a:p>
          <a:p>
            <a:r>
              <a:rPr>
                <a:latin typeface="Georgia"/>
              </a:rPr>
              <a:t>  - Régularisation L2 (Ridge).</a:t>
            </a:r>
          </a:p>
          <a:p>
            <a:r>
              <a:rPr>
                <a:latin typeface="Georgia"/>
              </a:rPr>
              <a:t>  - class_weight='balanced' (compense le déséquilibre de classes).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Classifieur Champion : SVM Linéaire</a:t>
            </a:r>
          </a:p>
        </p:txBody>
      </p:sp>
      <p:sp>
        <p:nvSpPr>
          <p:cNvPr id="3" name="Content Placeholder 2"/>
          <p:cNvSpPr>
            <a:spLocks noGrp="1"/>
          </p:cNvSpPr>
          <p:nvPr>
            <p:ph idx="1"/>
          </p:nvPr>
        </p:nvSpPr>
        <p:spPr/>
        <p:txBody>
          <a:bodyPr/>
          <a:lstStyle/>
          <a:p>
            <a:r>
              <a:rPr>
                <a:latin typeface="Georgia"/>
              </a:rPr>
              <a:t>• Principe mathématique :</a:t>
            </a:r>
          </a:p>
          <a:p>
            <a:r>
              <a:rPr>
                <a:latin typeface="Georgia"/>
              </a:rPr>
              <a:t>  - Recherche de l'hyperplan séparateur de marge maximale.</a:t>
            </a:r>
          </a:p>
          <a:p>
            <a:r>
              <a:rPr>
                <a:latin typeface="Georgia"/>
              </a:rPr>
              <a:t>  - Minimise la perte charnière (hinge loss).</a:t>
            </a:r>
          </a:p>
          <a:p/>
          <a:p>
            <a:r>
              <a:rPr>
                <a:latin typeface="Georgia"/>
              </a:rPr>
              <a:t>• Pourquoi ce choix :</a:t>
            </a:r>
          </a:p>
          <a:p>
            <a:r>
              <a:rPr>
                <a:latin typeface="Georgia"/>
              </a:rPr>
              <a:t>  - Excellente réputation en classification de textes.</a:t>
            </a:r>
          </a:p>
          <a:p>
            <a:r>
              <a:rPr>
                <a:latin typeface="Georgia"/>
              </a:rPr>
              <a:t>  - Robuste dans les espaces de grande dimension (384D).</a:t>
            </a:r>
          </a:p>
          <a:p>
            <a:r>
              <a:rPr>
                <a:latin typeface="Georgia"/>
              </a:rPr>
              <a:t>  - Moins sensible aux outliers (se concentre sur les vecteurs supports).</a:t>
            </a:r>
          </a:p>
          <a:p/>
          <a:p>
            <a:r>
              <a:rPr>
                <a:latin typeface="Georgia"/>
              </a:rPr>
              <a:t>• Configuration :</a:t>
            </a:r>
          </a:p>
          <a:p>
            <a:r>
              <a:rPr>
                <a:latin typeface="Georgia"/>
              </a:rPr>
              <a:t>  - LinearSVC de Scikit-Learn avec class_weight='balanced'.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Justification de l'Étude Comparative</a:t>
            </a:r>
          </a:p>
        </p:txBody>
      </p:sp>
      <p:sp>
        <p:nvSpPr>
          <p:cNvPr id="3" name="Content Placeholder 2"/>
          <p:cNvSpPr>
            <a:spLocks noGrp="1"/>
          </p:cNvSpPr>
          <p:nvPr>
            <p:ph idx="1"/>
          </p:nvPr>
        </p:nvSpPr>
        <p:spPr/>
        <p:txBody>
          <a:bodyPr/>
          <a:lstStyle/>
          <a:p>
            <a:r>
              <a:rPr>
                <a:latin typeface="Georgia"/>
              </a:rPr>
              <a:t>• Objectif : Isoler l'impact de l'algorithme.</a:t>
            </a:r>
          </a:p>
          <a:p/>
          <a:p>
            <a:r>
              <a:rPr>
                <a:latin typeface="Georgia"/>
              </a:rPr>
              <a:t>• Contrôle des variables :</a:t>
            </a:r>
          </a:p>
          <a:p>
            <a:r>
              <a:rPr>
                <a:latin typeface="Georgia"/>
              </a:rPr>
              <a:t>  - Dataset Identique (24 articles).</a:t>
            </a:r>
          </a:p>
          <a:p>
            <a:r>
              <a:rPr>
                <a:latin typeface="Georgia"/>
              </a:rPr>
              <a:t>  - Embeddings Communs (MiniLM 384D).</a:t>
            </a:r>
          </a:p>
          <a:p>
            <a:r>
              <a:rPr>
                <a:latin typeface="Georgia"/>
              </a:rPr>
              <a:t>  - Split Train/Test strict.</a:t>
            </a:r>
          </a:p>
          <a:p/>
          <a:p>
            <a:r>
              <a:rPr>
                <a:latin typeface="Georgia"/>
              </a:rPr>
              <a:t>• Comparaison :</a:t>
            </a:r>
          </a:p>
          <a:p>
            <a:r>
              <a:rPr>
                <a:latin typeface="Georgia"/>
              </a:rPr>
              <a:t>  - Régression Logistique VS Linear SVM.</a:t>
            </a:r>
          </a:p>
          <a:p>
            <a:r>
              <a:rPr>
                <a:latin typeface="Georgia"/>
              </a:rPr>
              <a:t>  - Valider le choix du moteur pour le pipeline final.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Protocole Expérimental</a:t>
            </a:r>
          </a:p>
        </p:txBody>
      </p:sp>
      <p:sp>
        <p:nvSpPr>
          <p:cNvPr id="3" name="Content Placeholder 2"/>
          <p:cNvSpPr>
            <a:spLocks noGrp="1"/>
          </p:cNvSpPr>
          <p:nvPr>
            <p:ph idx="1"/>
          </p:nvPr>
        </p:nvSpPr>
        <p:spPr/>
        <p:txBody>
          <a:bodyPr/>
          <a:lstStyle/>
          <a:p>
            <a:r>
              <a:rPr>
                <a:latin typeface="Georgia"/>
              </a:rPr>
              <a:t>• Dataset :</a:t>
            </a:r>
          </a:p>
          <a:p>
            <a:r>
              <a:rPr>
                <a:latin typeface="Georgia"/>
              </a:rPr>
              <a:t>  - 24 articles (FR, AR, EN) -&gt; 571 segments.</a:t>
            </a:r>
          </a:p>
          <a:p/>
          <a:p>
            <a:r>
              <a:rPr>
                <a:latin typeface="Georgia"/>
              </a:rPr>
              <a:t>• Gestion de la Fuite de Données (Data Leakage) :</a:t>
            </a:r>
          </a:p>
          <a:p>
            <a:r>
              <a:rPr>
                <a:latin typeface="Georgia"/>
              </a:rPr>
              <a:t>  - Problème : Les titres d'articles apparaissent en recommandation ailleurs.</a:t>
            </a:r>
          </a:p>
          <a:p>
            <a:r>
              <a:rPr>
                <a:latin typeface="Georgia"/>
              </a:rPr>
              <a:t>  - Solution : Split au niveau de l'article (GroupShuffleSplit).</a:t>
            </a:r>
          </a:p>
          <a:p>
            <a:r>
              <a:rPr>
                <a:latin typeface="Georgia"/>
              </a:rPr>
              <a:t>  - Résultat : Le lot de Test (25%) est 100% inconnu du modèle.</a:t>
            </a:r>
          </a:p>
          <a:p/>
          <a:p>
            <a:r>
              <a:rPr>
                <a:latin typeface="Georgia"/>
              </a:rPr>
              <a:t>• Métriques : Accuracy, Precision, Recall, F1-Score.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Résultats Expérimentaux Comparés</a:t>
            </a:r>
          </a:p>
        </p:txBody>
      </p:sp>
      <p:sp>
        <p:nvSpPr>
          <p:cNvPr id="3" name="Content Placeholder 2"/>
          <p:cNvSpPr>
            <a:spLocks noGrp="1"/>
          </p:cNvSpPr>
          <p:nvPr>
            <p:ph idx="1"/>
          </p:nvPr>
        </p:nvSpPr>
        <p:spPr/>
        <p:txBody>
          <a:bodyPr/>
          <a:lstStyle/>
          <a:p>
            <a:r>
              <a:rPr>
                <a:latin typeface="Georgia"/>
              </a:rPr>
              <a:t>• Régression Logistique :</a:t>
            </a:r>
          </a:p>
          <a:p>
            <a:r>
              <a:rPr>
                <a:latin typeface="Georgia"/>
              </a:rPr>
              <a:t>  - Accuracy : 91.67%</a:t>
            </a:r>
          </a:p>
          <a:p>
            <a:r>
              <a:rPr>
                <a:latin typeface="Georgia"/>
              </a:rPr>
              <a:t>  - F1 Macro : 90.32%</a:t>
            </a:r>
          </a:p>
          <a:p/>
          <a:p>
            <a:r>
              <a:rPr>
                <a:latin typeface="Georgia"/>
              </a:rPr>
              <a:t>• Linear SVM (Gagnant) :</a:t>
            </a:r>
          </a:p>
          <a:p>
            <a:r>
              <a:rPr>
                <a:latin typeface="Georgia"/>
              </a:rPr>
              <a:t>  - Accuracy : 93.06% (+ 1.39%)</a:t>
            </a:r>
          </a:p>
          <a:p>
            <a:r>
              <a:rPr>
                <a:latin typeface="Georgia"/>
              </a:rPr>
              <a:t>  - F1 Macro : 91.97% (+ 1.65%)</a:t>
            </a:r>
          </a:p>
          <a:p>
            <a:r>
              <a:rPr>
                <a:latin typeface="Georgia"/>
              </a:rPr>
              <a:t>  - Recall (Éditorial) : 95.12%</a:t>
            </a:r>
          </a:p>
          <a:p/>
          <a:p>
            <a:r>
              <a:rPr>
                <a:latin typeface="Georgia"/>
              </a:rPr>
              <a:t>• Synthèse :</a:t>
            </a:r>
          </a:p>
          <a:p>
            <a:r>
              <a:rPr>
                <a:latin typeface="Georgia"/>
              </a:rPr>
              <a:t>  - Sur 144 segments de test : LR = 12 erreurs | SVM = 10 erreurs.</a:t>
            </a:r>
          </a:p>
          <a:p>
            <a:r>
              <a:rPr>
                <a:latin typeface="Georgia"/>
              </a:rPr>
              <a:t>  - SVM réduit à la fois les Faux Positifs et les Faux Négatifs.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Analyse Fine des Erreurs</a:t>
            </a:r>
          </a:p>
        </p:txBody>
      </p:sp>
      <p:sp>
        <p:nvSpPr>
          <p:cNvPr id="3" name="Content Placeholder 2"/>
          <p:cNvSpPr>
            <a:spLocks noGrp="1"/>
          </p:cNvSpPr>
          <p:nvPr>
            <p:ph idx="1"/>
          </p:nvPr>
        </p:nvSpPr>
        <p:spPr/>
        <p:txBody>
          <a:bodyPr/>
          <a:lstStyle/>
          <a:p>
            <a:r>
              <a:rPr>
                <a:latin typeface="Georgia"/>
              </a:rPr>
              <a:t>• Faux Positifs (Bruit classé Éditorial) :</a:t>
            </a:r>
          </a:p>
          <a:p>
            <a:r>
              <a:rPr>
                <a:latin typeface="Georgia"/>
              </a:rPr>
              <a:t>  - Exemple : "Pourquoi les prix baissent au Maroc" (Lien recommandé).</a:t>
            </a:r>
          </a:p>
          <a:p>
            <a:r>
              <a:rPr>
                <a:latin typeface="Georgia"/>
              </a:rPr>
              <a:t>  - Cause : Structure grammaticale d'une vraie phrase.</a:t>
            </a:r>
          </a:p>
          <a:p>
            <a:r>
              <a:rPr>
                <a:latin typeface="Georgia"/>
              </a:rPr>
              <a:t>  - Le SVM limite mieux ce type d'erreur.</a:t>
            </a:r>
          </a:p>
          <a:p/>
          <a:p>
            <a:r>
              <a:rPr>
                <a:latin typeface="Georgia"/>
              </a:rPr>
              <a:t>• Faux Négatifs (Éditorial classé Bruit) :</a:t>
            </a:r>
          </a:p>
          <a:p>
            <a:r>
              <a:rPr>
                <a:latin typeface="Georgia"/>
              </a:rPr>
              <a:t>  - Exemple : Titre court arabe ressemblant à un menu de navigation.</a:t>
            </a:r>
          </a:p>
          <a:p>
            <a:r>
              <a:rPr>
                <a:latin typeface="Georgia"/>
              </a:rPr>
              <a:t>  - Le SVM maintient un excellent Recall (95%) pour limiter la perte de texte.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Intégration dans le Pipeline de Production</a:t>
            </a:r>
          </a:p>
        </p:txBody>
      </p:sp>
      <p:sp>
        <p:nvSpPr>
          <p:cNvPr id="3" name="Content Placeholder 2"/>
          <p:cNvSpPr>
            <a:spLocks noGrp="1"/>
          </p:cNvSpPr>
          <p:nvPr>
            <p:ph idx="1"/>
          </p:nvPr>
        </p:nvSpPr>
        <p:spPr/>
        <p:txBody>
          <a:bodyPr/>
          <a:lstStyle/>
          <a:p>
            <a:r>
              <a:rPr>
                <a:latin typeface="Georgia"/>
              </a:rPr>
              <a:t>1. Extraction brute (BeautifulSoup)</a:t>
            </a:r>
          </a:p>
          <a:p>
            <a:r>
              <a:rPr>
                <a:latin typeface="Georgia"/>
              </a:rPr>
              <a:t>   ⬇</a:t>
            </a:r>
          </a:p>
          <a:p>
            <a:r>
              <a:rPr>
                <a:latin typeface="Georgia"/>
              </a:rPr>
              <a:t>2. Encodage Sémantique (MiniLM Transformer)</a:t>
            </a:r>
          </a:p>
          <a:p>
            <a:r>
              <a:rPr>
                <a:latin typeface="Georgia"/>
              </a:rPr>
              <a:t>   ⬇</a:t>
            </a:r>
          </a:p>
          <a:p>
            <a:r>
              <a:rPr>
                <a:latin typeface="Georgia"/>
              </a:rPr>
              <a:t>3. Classification (Linear SVM 🏆)</a:t>
            </a:r>
          </a:p>
          <a:p>
            <a:r>
              <a:rPr>
                <a:latin typeface="Georgia"/>
              </a:rPr>
              <a:t>   ⬇</a:t>
            </a:r>
          </a:p>
          <a:p>
            <a:r>
              <a:rPr>
                <a:latin typeface="Georgia"/>
              </a:rPr>
              <a:t>4. Reconstructeur de document (Filtrage et réassemblage)</a:t>
            </a:r>
          </a:p>
          <a:p/>
          <a:p>
            <a:r>
              <a:rPr>
                <a:latin typeface="Georgia"/>
              </a:rPr>
              <a:t>• Décision finale :</a:t>
            </a:r>
          </a:p>
          <a:p>
            <a:r>
              <a:rPr>
                <a:latin typeface="Georgia"/>
              </a:rPr>
              <a:t>  - Performance maximale du SVM (F1 Macro de 91.97%).</a:t>
            </a:r>
          </a:p>
          <a:p>
            <a:r>
              <a:rPr>
                <a:latin typeface="Georgia"/>
              </a:rPr>
              <a:t>  - Vitesse d'inférence équivalente à la Régression Logistique.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FFC000"/>
                </a:solidFill>
                <a:latin typeface="Georgia"/>
              </a:rPr>
              <a:t>Conclusion et Perspectives</a:t>
            </a:r>
          </a:p>
        </p:txBody>
      </p:sp>
      <p:sp>
        <p:nvSpPr>
          <p:cNvPr id="3" name="Content Placeholder 2"/>
          <p:cNvSpPr>
            <a:spLocks noGrp="1"/>
          </p:cNvSpPr>
          <p:nvPr>
            <p:ph idx="1"/>
          </p:nvPr>
        </p:nvSpPr>
        <p:spPr/>
        <p:txBody>
          <a:bodyPr/>
          <a:lstStyle/>
          <a:p>
            <a:r>
              <a:rPr>
                <a:latin typeface="Georgia"/>
              </a:rPr>
              <a:t>• Succès du projet :</a:t>
            </a:r>
          </a:p>
          <a:p>
            <a:r>
              <a:rPr>
                <a:latin typeface="Georgia"/>
              </a:rPr>
              <a:t>  - Validation du pipeline supervisé avec embeddings MiniLM.</a:t>
            </a:r>
          </a:p>
          <a:p>
            <a:r>
              <a:rPr>
                <a:latin typeface="Georgia"/>
              </a:rPr>
              <a:t>  - Affranchissement des règles CSS fragiles (F1-score de 91.97%).</a:t>
            </a:r>
          </a:p>
          <a:p/>
          <a:p>
            <a:r>
              <a:rPr>
                <a:latin typeface="Georgia"/>
              </a:rPr>
              <a:t>• Limites actuelles :</a:t>
            </a:r>
          </a:p>
          <a:p>
            <a:r>
              <a:rPr>
                <a:latin typeface="Georgia"/>
              </a:rPr>
              <a:t>  - Taille du dataset (24 articles).</a:t>
            </a:r>
          </a:p>
          <a:p/>
          <a:p>
            <a:r>
              <a:rPr>
                <a:latin typeface="Georgia"/>
              </a:rPr>
              <a:t>• Travaux Futurs :</a:t>
            </a:r>
          </a:p>
          <a:p>
            <a:r>
              <a:rPr>
                <a:latin typeface="Georgia"/>
              </a:rPr>
              <a:t>  - Étendre le dataset (100+ articles).</a:t>
            </a:r>
          </a:p>
          <a:p>
            <a:r>
              <a:rPr>
                <a:latin typeface="Georgia"/>
              </a:rPr>
              <a:t>  - Exploration de features hybrides (Sémantique MiniLM + Densité de liens 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